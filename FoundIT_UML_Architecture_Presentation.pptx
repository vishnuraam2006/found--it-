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72865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CAMPUS LOST &amp; FOUND INTELLIGENCE PLATFORM</a:t>
            </a:r>
          </a:p>
          <a:p>
            <a:pPr>
              <a:spcAft>
                <a:spcPts val="600"/>
              </a:spcAft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FoundIT: System Architecture &amp; UML Specification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Complete Engineering Blueprints: Behavioral Models, Multi-Modal AI Pipelines, Cryptographic Handover Protocols, and Distributed Data Schemas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242316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2423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39" y="33832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⚡  Next.js 16 + React 19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TypeScript App Router with serverless API microservices &amp; Turbopack SSR.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1024" y="3200400"/>
            <a:ext cx="242316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21024" y="3200400"/>
            <a:ext cx="2423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4" y="33832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🧠  Multi-Modal AI Engine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YOLOv8 tagger, CLIP visual vectors, Sentence Transformers &amp; Cosine Similarity ≥75%.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3200400"/>
            <a:ext cx="242316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3200400"/>
            <a:ext cx="24231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33832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🔐  Secure 6-Digit Handover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Masked chat anonymity, SHA-256 hashed OTPs, 15m expiry &amp; 3-attempt throttle.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68511" y="3200400"/>
            <a:ext cx="242316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68511" y="3200400"/>
            <a:ext cx="2423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05672" y="33832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🗄️  MongoDB Enterprise Store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8 normalized schemas, atomic report state locks, and immutable audit logs.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EB092B-6B68-B8EC-60AA-FD8C7279BE44}"/>
              </a:ext>
            </a:extLst>
          </p:cNvPr>
          <p:cNvSpPr/>
          <p:nvPr/>
        </p:nvSpPr>
        <p:spPr>
          <a:xfrm>
            <a:off x="7020232" y="5522977"/>
            <a:ext cx="3934280" cy="87782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TE</a:t>
            </a:r>
            <a:r>
              <a:rPr lang="en-IN" sz="2000" dirty="0">
                <a:solidFill>
                  <a:schemeClr val="tx1"/>
                </a:solidFill>
              </a:rPr>
              <a:t>TEAM MEMBERS: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VENKATRAMAN M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SADHANAN SUNDAR S</a:t>
            </a:r>
          </a:p>
          <a:p>
            <a:pPr algn="r"/>
            <a:r>
              <a:rPr lang="en-IN" sz="2000" dirty="0">
                <a:solidFill>
                  <a:schemeClr val="tx1"/>
                </a:solidFill>
              </a:rPr>
              <a:t>VISHNURAAM K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ARCHITECTURE BLUEPRINT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UML &amp; Architectural Taxonomy Index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Systematic categorization of the 13 FoundIT architectural models across three core software engineering pillars.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29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3429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PILLAR 01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Behavioral &amp; Interaction Models</a:t>
            </a:r>
          </a:p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01. Use Case Diagram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User roles, system boundaries, and «include»/«extend» capabilities.</a:t>
            </a:r>
          </a:p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02. Activity Diagram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End-to-end workflow from campus OAuth login to physical handover.</a:t>
            </a:r>
          </a:p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04. Sequence Diagram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34-step synchronous &amp; WebSocket message flow across tiers.</a:t>
            </a:r>
          </a:p>
          <a:p>
            <a:pPr>
              <a:defRPr sz="1150" b="1">
                <a:solidFill>
                  <a:srgbClr val="2563EB"/>
                </a:solidFill>
                <a:latin typeface="Segoe UI"/>
              </a:defRPr>
            </a:pPr>
            <a:r>
              <a:t>05. State Machine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Lifecycle progression from draft to similarity match and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29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0" y="1325880"/>
            <a:ext cx="3429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PILLAR 02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Structural &amp; Physical Models</a:t>
            </a:r>
          </a:p>
          <a:p>
            <a:pPr>
              <a:defRPr sz="1150" b="1">
                <a:solidFill>
                  <a:srgbClr val="7C3AED"/>
                </a:solidFill>
                <a:latin typeface="Segoe UI"/>
              </a:defRPr>
            </a:pPr>
            <a:r>
              <a:t>03. Domain Class Diagram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OOP domain entities, inheritance hierarchy, and method signatures.</a:t>
            </a:r>
          </a:p>
          <a:p>
            <a:pPr>
              <a:defRPr sz="1150" b="1">
                <a:solidFill>
                  <a:srgbClr val="7C3AED"/>
                </a:solidFill>
                <a:latin typeface="Segoe UI"/>
              </a:defRPr>
            </a:pPr>
            <a:r>
              <a:t>11. Component Diagram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Modular decoupled services, AI processors, and UI components.</a:t>
            </a:r>
          </a:p>
          <a:p>
            <a:pPr>
              <a:defRPr sz="1150" b="1">
                <a:solidFill>
                  <a:srgbClr val="7C3AED"/>
                </a:solidFill>
                <a:latin typeface="Segoe UI"/>
              </a:defRPr>
            </a:pPr>
            <a:r>
              <a:t>12. Deployment Diagram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Physical/cloud nodes, Docker containers, ports, and protocols.</a:t>
            </a:r>
          </a:p>
          <a:p>
            <a:pPr>
              <a:defRPr sz="1150" b="1">
                <a:solidFill>
                  <a:srgbClr val="7C3AED"/>
                </a:solidFill>
                <a:latin typeface="Segoe UI"/>
              </a:defRPr>
            </a:pPr>
            <a:r>
              <a:t>13. Entity-Relationship (ER)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MongoDB 8-collection relational schema, PKs, FKs, and cardinalities.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429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46720" y="1325880"/>
            <a:ext cx="34290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63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PILLAR 03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Process &amp; Data Flow Engineering</a:t>
            </a:r>
          </a:p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06. High-Level Architecture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6-tier enterprise topology from client SPAs to GPU acceleration.</a:t>
            </a:r>
          </a:p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07. DFD Level 0 (Context)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System boundary interactions with students, Google OAuth, and SMTP.</a:t>
            </a:r>
          </a:p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08. DFD Level 1 (Decomposition)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7 functional processes interacting with 7 isolated data stores.</a:t>
            </a:r>
          </a:p>
          <a:p>
            <a:pPr>
              <a:defRPr sz="1150" b="1">
                <a:solidFill>
                  <a:srgbClr val="059669"/>
                </a:solidFill>
                <a:latin typeface="Segoe UI"/>
              </a:defRPr>
            </a:pPr>
            <a:r>
              <a:t>09 &amp; 10. DFD Levels 2 &amp; 3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t>Deep dive into multi-modal AI matching and 4-stage OTP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UML BEHAVIORAL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01 | Use Case: Actor Roles &amp; System Boundaries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Defines user interactions, system boundary, and functional dependencies within FoundIT.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66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63415"/>
            <a:ext cx="4892040" cy="45998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280160"/>
            <a:ext cx="5333695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33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50815" cy="4937760"/>
          </a:xfrm>
          <a:prstGeom prst="rect">
            <a:avLst/>
          </a:prstGeom>
          <a:noFill/>
        </p:spPr>
        <p:txBody>
          <a:bodyPr wrap="square" lIns="182880" tIns="164592" rIns="182880" bIns="16459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Primary System Actors &amp; Roles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Student (Loser):</a:t>
            </a:r>
            <a:r>
              <a:rPr b="0">
                <a:solidFill>
                  <a:srgbClr val="1E293B"/>
                </a:solidFill>
              </a:rPr>
              <a:t> Reports lost items, uploads photos, reviews recommendations, initiates masked chat, generates handover OTP.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Student (Finder):</a:t>
            </a:r>
            <a:r>
              <a:rPr b="0">
                <a:solidFill>
                  <a:srgbClr val="1E293B"/>
                </a:solidFill>
              </a:rPr>
              <a:t> Reports found items, confirms YOLO tags, interacts anonymously, validates handover OTP.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Platform Administrator:</a:t>
            </a:r>
            <a:r>
              <a:rPr b="0">
                <a:solidFill>
                  <a:srgbClr val="1E293B"/>
                </a:solidFill>
              </a:rPr>
              <a:t> Moderates flagged content, oversees user suspensions, generates compliance audit logs.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External Service Integrations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Google OAuth 2.0:</a:t>
            </a:r>
            <a:r>
              <a:rPr b="0">
                <a:solidFill>
                  <a:srgbClr val="1E293B"/>
                </a:solidFill>
              </a:rPr>
              <a:t> Institutional campus SSO gating («include» dependency for all portal logins).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Campus SMTP Gateway:</a:t>
            </a:r>
            <a:r>
              <a:rPr b="0">
                <a:solidFill>
                  <a:srgbClr val="1E293B"/>
                </a:solidFill>
              </a:rPr>
              <a:t> Automated email dispatch for match discoveries and OTP notification tokens.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Core Use Case Relationships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Browse Matches → Masked Chat:</a:t>
            </a:r>
            <a:r>
              <a:rPr b="0">
                <a:solidFill>
                  <a:srgbClr val="1E293B"/>
                </a:solidFill>
              </a:rPr>
              <a:t> «extend» relationship unlocked only when AI similarity score ≥ 75%.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Item Intake → AI Inference:</a:t>
            </a:r>
            <a:r>
              <a:rPr b="0">
                <a:solidFill>
                  <a:srgbClr val="1E293B"/>
                </a:solidFill>
              </a:rPr>
              <a:t> «include» dependency invoking image embedding and auto-tagging.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Validate OTP → Archive Report:</a:t>
            </a:r>
            <a:r>
              <a:rPr b="0">
                <a:solidFill>
                  <a:srgbClr val="1E293B"/>
                </a:solidFill>
              </a:rPr>
              <a:t> «include» dependency guaranteeing atomic report resolution.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UML BEHAVIORAL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02 | Activity: End-to-End Operational Lifecycle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Step-by-step logic from institutional authentication through AI matching to physical handover.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66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_activ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481" y="1417319"/>
            <a:ext cx="1642437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280160"/>
            <a:ext cx="5333695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33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50815" cy="4937760"/>
          </a:xfrm>
          <a:prstGeom prst="rect">
            <a:avLst/>
          </a:prstGeom>
          <a:noFill/>
        </p:spPr>
        <p:txBody>
          <a:bodyPr wrap="square" lIns="182880" tIns="164592" rIns="182880" bIns="16459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Authentication &amp; Ingestion Branching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Domain Gatekeeper:</a:t>
            </a:r>
            <a:r>
              <a:rPr b="0">
                <a:solidFill>
                  <a:srgbClr val="1E293B"/>
                </a:solidFill>
              </a:rPr>
              <a:t> Validates university email format; invalid domains are rejected with Access_Denied.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Dual-Path Intake:</a:t>
            </a:r>
            <a:r>
              <a:rPr b="0">
                <a:solidFill>
                  <a:srgbClr val="1E293B"/>
                </a:solidFill>
              </a:rPr>
              <a:t> Segregated reporting flows for Lost (metadata + photos) vs. Found items.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Multi-Modal AI Pipeline Execution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YOLOv8 Detection:</a:t>
            </a:r>
            <a:r>
              <a:rPr b="0">
                <a:solidFill>
                  <a:srgbClr val="1E293B"/>
                </a:solidFill>
              </a:rPr>
              <a:t> Identifies object tags automatically, prompting finder to confirm or adjust tags.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CLIP &amp; Text Embeddings:</a:t>
            </a:r>
            <a:r>
              <a:rPr b="0">
                <a:solidFill>
                  <a:srgbClr val="1E293B"/>
                </a:solidFill>
              </a:rPr>
              <a:t> Generates 512-dim visual and semantic vectors stored in MongoDB.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Cosine Threshold (≥ 75%):</a:t>
            </a:r>
            <a:r>
              <a:rPr b="0">
                <a:solidFill>
                  <a:srgbClr val="1E293B"/>
                </a:solidFill>
              </a:rPr>
              <a:t> Valid matches trigger immediate user alerts; low scores enter Standby_Queue.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Physical Verification &amp; Resolution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Masked Coordination:</a:t>
            </a:r>
            <a:r>
              <a:rPr b="0">
                <a:solidFill>
                  <a:srgbClr val="1E293B"/>
                </a:solidFill>
              </a:rPr>
              <a:t> Anonymous WebSocket chat coordinates physical campus rendezvous point.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Cryptographic Handover:</a:t>
            </a:r>
            <a:r>
              <a:rPr b="0">
                <a:solidFill>
                  <a:srgbClr val="1E293B"/>
                </a:solidFill>
              </a:rPr>
              <a:t> Loser generates 6-digit OTP; finder submits code for hash comparison.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Atomic Case Closure:</a:t>
            </a:r>
            <a:r>
              <a:rPr b="0">
                <a:solidFill>
                  <a:srgbClr val="1E293B"/>
                </a:solidFill>
              </a:rPr>
              <a:t> Successful verification transitions status to 'Resolved' and writes audit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UML STRUCTURAL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03 | Class Diagram: Domain Models &amp; OOP Architecture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Object-oriented architecture illustrating domain entities, inheritance hierarchies, and method contracts.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66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23" y="1417319"/>
            <a:ext cx="4448552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280160"/>
            <a:ext cx="5333695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33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50815" cy="4937760"/>
          </a:xfrm>
          <a:prstGeom prst="rect">
            <a:avLst/>
          </a:prstGeom>
          <a:noFill/>
        </p:spPr>
        <p:txBody>
          <a:bodyPr wrap="square" lIns="182880" tIns="164592" rIns="182880" bIns="16459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User Inheritance Hierarchy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User (Abstract Base):</a:t>
            </a:r>
            <a:r>
              <a:rPr b="0">
                <a:solidFill>
                  <a:srgbClr val="1E293B"/>
                </a:solidFill>
              </a:rPr>
              <a:t> Defines userId, name, campusEmail, role, createdAt | loginWithOAuth(), logout().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Student (Specialized):</a:t>
            </a:r>
            <a:r>
              <a:rPr b="0">
                <a:solidFill>
                  <a:srgbClr val="1E293B"/>
                </a:solidFill>
              </a:rPr>
              <a:t> Adds department, rollNumber | reportLostItem(), reportFoundItem(), generateHandoverOTP().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Administrator:</a:t>
            </a:r>
            <a:r>
              <a:rPr b="0">
                <a:solidFill>
                  <a:srgbClr val="1E293B"/>
                </a:solidFill>
              </a:rPr>
              <a:t> Adds adminLevel, accessKey | deleteReport(), suspendUser(), generateAnalyticsReport().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Item Polymorphism &amp; State Encapsulation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Item (Base):</a:t>
            </a:r>
            <a:r>
              <a:rPr b="0">
                <a:solidFill>
                  <a:srgbClr val="1E293B"/>
                </a:solidFill>
              </a:rPr>
              <a:t> Defines itemId, title, category, description, location, status | updateStatus().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LostItem vs FoundItem:</a:t>
            </a:r>
            <a:r>
              <a:rPr b="0">
                <a:solidFill>
                  <a:srgbClr val="1E293B"/>
                </a:solidFill>
              </a:rPr>
              <a:t> Lost items manage textEmbedding; Found items encapsulate aiTags &amp; imageEmbedding.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Engine, Chat &amp; Security Contracts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AIMatchingEngine:</a:t>
            </a:r>
            <a:r>
              <a:rPr b="0">
                <a:solidFill>
                  <a:srgbClr val="1E293B"/>
                </a:solidFill>
              </a:rPr>
              <a:t> Core inference methods extractYOLOTags(), generateCLIPEmbedding(), computeCosineSimilarity().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ChatSession &amp; Message:</a:t>
            </a:r>
            <a:r>
              <a:rPr b="0">
                <a:solidFill>
                  <a:srgbClr val="1E293B"/>
                </a:solidFill>
              </a:rPr>
              <a:t> 1:N composite structure maintaining masked IDs and chronological timestamps.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OTPVerification &amp; AuditLog:</a:t>
            </a:r>
            <a:r>
              <a:rPr b="0">
                <a:solidFill>
                  <a:srgbClr val="1E293B"/>
                </a:solidFill>
              </a:rPr>
              <a:t> Cryptographic token validation (validateOTP()) and immutable system auditing.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UML BEHAVIORAL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04 | Sequence: 34-Step Match, Chat &amp; Handover Flow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Chronological message sequencing across Web Client, FastAPI/Node Backend, AI Engine, MongoDB, and WebSockets.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915" y="1399031"/>
            <a:ext cx="4213864" cy="3310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Phase 1: Ingestion &amp; AI Scoring (Steps 1–12)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Found Submission:</a:t>
            </a:r>
            <a:r>
              <a:rPr b="0">
                <a:solidFill>
                  <a:srgbClr val="1E293B"/>
                </a:solidFill>
              </a:rPr>
              <a:t> Finder posts item photo and metadata via POST /api/items/found.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AI Inference:</a:t>
            </a:r>
            <a:r>
              <a:rPr b="0">
                <a:solidFill>
                  <a:srgbClr val="1E293B"/>
                </a:solidFill>
              </a:rPr>
              <a:t> Backend triggers YOLO auto-tagging and generates 512-dim CLIP vectors.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Cosine Discovery:</a:t>
            </a:r>
            <a:r>
              <a:rPr b="0">
                <a:solidFill>
                  <a:srgbClr val="1E293B"/>
                </a:solidFill>
              </a:rPr>
              <a:t> Engine discovers active lost report matching with 94% similarity score.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Dual Alerting:</a:t>
            </a:r>
            <a:r>
              <a:rPr b="0">
                <a:solidFill>
                  <a:srgbClr val="1E293B"/>
                </a:solidFill>
              </a:rPr>
              <a:t> High-priority match notification banners dispatched to both student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Phase 2: Masked WebSocket Chat (Steps 13–19)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Room Initialization:</a:t>
            </a:r>
            <a:r>
              <a:rPr b="0">
                <a:solidFill>
                  <a:srgbClr val="1E293B"/>
                </a:solidFill>
              </a:rPr>
              <a:t> Loser initiates chat; server creates room with maskedLoserId and maskedFinderId.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Real-Time Messaging:</a:t>
            </a:r>
            <a:r>
              <a:rPr b="0">
                <a:solidFill>
                  <a:srgbClr val="1E293B"/>
                </a:solidFill>
              </a:rPr>
              <a:t> WebSocket service delivers bi-directional messages across client UIs.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Privacy Guarantee:</a:t>
            </a:r>
            <a:r>
              <a:rPr b="0">
                <a:solidFill>
                  <a:srgbClr val="1E293B"/>
                </a:solidFill>
              </a:rPr>
              <a:t> Real names, emails, and phone numbers remain completely hidden.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Handover Meeting:</a:t>
            </a:r>
            <a:r>
              <a:rPr b="0">
                <a:solidFill>
                  <a:srgbClr val="1E293B"/>
                </a:solidFill>
              </a:rPr>
              <a:t> Students confirm item details and agree to meet in person at Main Desk.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Phase 3: OTP Handover &amp; Resolution (Steps 20–34)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OTP Generation:</a:t>
            </a:r>
            <a:r>
              <a:rPr b="0">
                <a:solidFill>
                  <a:srgbClr val="1E293B"/>
                </a:solidFill>
              </a:rPr>
              <a:t> Loser clicks 'Verify Ownership' (POST /api/otp/generate); server yields code 739201.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SHA-256 Storage:</a:t>
            </a:r>
            <a:r>
              <a:rPr b="0">
                <a:solidFill>
                  <a:srgbClr val="1E293B"/>
                </a:solidFill>
              </a:rPr>
              <a:t> Token stored as cryptographic hash (15m TTL); displayed only on loser screen.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Desk Verification:</a:t>
            </a:r>
            <a:r>
              <a:rPr b="0">
                <a:solidFill>
                  <a:srgbClr val="1E293B"/>
                </a:solidFill>
              </a:rPr>
              <a:t> Finder enters verbal code (POST /api/otp/verify); server validates hash.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Case Closure:</a:t>
            </a:r>
            <a:r>
              <a:rPr b="0">
                <a:solidFill>
                  <a:srgbClr val="1E293B"/>
                </a:solidFill>
              </a:rPr>
              <a:t> Report marked 'Resolved', audit trail committed, and case 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UML BEHAVIORAL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05 | State Machine: Report &amp; Claim Lifecycle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Finite state machine tracking item reports from draft creation to terminal resolution.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66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state_transi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75" y="1417319"/>
            <a:ext cx="3671448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280160"/>
            <a:ext cx="5333695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33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50815" cy="4937760"/>
          </a:xfrm>
          <a:prstGeom prst="rect">
            <a:avLst/>
          </a:prstGeom>
          <a:noFill/>
        </p:spPr>
        <p:txBody>
          <a:bodyPr wrap="square" lIns="182880" tIns="164592" rIns="182880" bIns="16459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Ingestion &amp; Search States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Draft_State → Active_Open:</a:t>
            </a:r>
            <a:r>
              <a:rPr b="0">
                <a:solidFill>
                  <a:srgbClr val="1E293B"/>
                </a:solidFill>
              </a:rPr>
              <a:t> Report form submitted with verified campus domain credentials.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Feature_Extraction:</a:t>
            </a:r>
            <a:r>
              <a:rPr b="0">
                <a:solidFill>
                  <a:srgbClr val="1E293B"/>
                </a:solidFill>
              </a:rPr>
              <a:t> Real-time visual extraction producing YOLO tags and CLIP embeddings.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Similarity_Search:</a:t>
            </a:r>
            <a:r>
              <a:rPr b="0">
                <a:solidFill>
                  <a:srgbClr val="1E293B"/>
                </a:solidFill>
              </a:rPr>
              <a:t> Vector engine cross-references active catalog records.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Matching &amp; Discovery States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Standby_Catalog:</a:t>
            </a:r>
            <a:r>
              <a:rPr b="0">
                <a:solidFill>
                  <a:srgbClr val="1E293B"/>
                </a:solidFill>
              </a:rPr>
              <a:t> Entered if similarity score &lt; 75%; awaits incoming counter-reports.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Match_Found:</a:t>
            </a:r>
            <a:r>
              <a:rPr b="0">
                <a:solidFill>
                  <a:srgbClr val="1E293B"/>
                </a:solidFill>
              </a:rPr>
              <a:t> Activated when cosine similarity ≥ 75%; unlocks mutual coordination mode.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Handover &amp; Resolution States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Chatting → Meetup_Fixed:</a:t>
            </a:r>
            <a:r>
              <a:rPr b="0">
                <a:solidFill>
                  <a:srgbClr val="1E293B"/>
                </a:solidFill>
              </a:rPr>
              <a:t> Masked communication to coordinate physical handover meeting.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OTP_Generated → Resolved:</a:t>
            </a:r>
            <a:r>
              <a:rPr b="0">
                <a:solidFill>
                  <a:srgbClr val="1E293B"/>
                </a:solidFill>
              </a:rPr>
              <a:t> Loser creates challenge; valid OTP transitions status to 'Resolved'.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OTP_Expired:</a:t>
            </a:r>
            <a:r>
              <a:rPr b="0">
                <a:solidFill>
                  <a:srgbClr val="1E293B"/>
                </a:solidFill>
              </a:rPr>
              <a:t> Exceeding 15-minute TTL forces loser to regenerate challenge token.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4. Exception States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Flagged → Deleted / Archived:</a:t>
            </a:r>
            <a:r>
              <a:rPr b="0">
                <a:solidFill>
                  <a:srgbClr val="1E293B"/>
                </a:solidFill>
              </a:rPr>
              <a:t> Abuse reports trigger administrator moderation and audit recording.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SYSTEM ARCHITECTURE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06 | Architecture: 6-Tier Enterprise Topology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Multi-tier decoupled architecture spanning client SPAs, reverse proxy, microservices, AI inference, and storage.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84" y="1399031"/>
            <a:ext cx="6899926" cy="3310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Tiers 1 &amp; 2: Presentation &amp; Gateway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Client Portals:</a:t>
            </a:r>
            <a:r>
              <a:rPr b="0">
                <a:solidFill>
                  <a:srgbClr val="1E293B"/>
                </a:solidFill>
              </a:rPr>
              <a:t> Responsive Next.js 16 / React 19 SPAs for Loser, Finder, and Admin console.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Reverse Proxy &amp; SSL:</a:t>
            </a:r>
            <a:r>
              <a:rPr b="0">
                <a:solidFill>
                  <a:srgbClr val="1E293B"/>
                </a:solidFill>
              </a:rPr>
              <a:t> Nginx reverse proxy and load balancer terminating TLS 1.3 on Port 443.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Security Guard:</a:t>
            </a:r>
            <a:r>
              <a:rPr b="0">
                <a:solidFill>
                  <a:srgbClr val="1E293B"/>
                </a:solidFill>
              </a:rPr>
              <a:t> Middleware enforcing Google OAuth 2.0 validation and JWT session guards.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Tiers 3 &amp; 4: Application &amp; AI Services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Business Logic:</a:t>
            </a:r>
            <a:r>
              <a:rPr b="0">
                <a:solidFill>
                  <a:srgbClr val="1E293B"/>
                </a:solidFill>
              </a:rPr>
              <a:t> User auth, lost/found services, WebSocket chat, and OTP verifier microservices.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YOLOv8 Detection:</a:t>
            </a:r>
            <a:r>
              <a:rPr b="0">
                <a:solidFill>
                  <a:srgbClr val="1E293B"/>
                </a:solidFill>
              </a:rPr>
              <a:t> Instant object detection extracting visual labels from uploaded photos.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Multimodal Vectors:</a:t>
            </a:r>
            <a:r>
              <a:rPr b="0">
                <a:solidFill>
                  <a:srgbClr val="1E293B"/>
                </a:solidFill>
              </a:rPr>
              <a:t> Sentence Transformers (text) + CLIP Embedder (visual) with ≥75% Cosine matcher.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Tiers 5 &amp; 6: Data Persistence &amp; Cloud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MongoDB Cluster:</a:t>
            </a:r>
            <a:r>
              <a:rPr b="0">
                <a:solidFill>
                  <a:srgbClr val="1E293B"/>
                </a:solidFill>
              </a:rPr>
              <a:t> Enterprise document store for users, items, matches, chats, OTPs, and logs.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Object Storage:</a:t>
            </a:r>
            <a:r>
              <a:rPr b="0">
                <a:solidFill>
                  <a:srgbClr val="1E293B"/>
                </a:solidFill>
              </a:rPr>
              <a:t> Encrypted media storage volume for high-resolution item photo blobs.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External Gateways:</a:t>
            </a:r>
            <a:r>
              <a:rPr b="0">
                <a:solidFill>
                  <a:srgbClr val="1E293B"/>
                </a:solidFill>
              </a:rPr>
              <a:t> Google Cloud OAuth 2.0 (Campus SSO) and Campus SMTP Gateway.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DATA FLOW SPECIFICATION (LEVEL 0)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07 | DFD Level 0: Macro Context &amp; External Boundaries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Top-level data boundaries between FoundIT System (0.0) and all external entities.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dfd_level_0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95528"/>
            <a:ext cx="10454335" cy="25171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Student Actors (Loser &amp; Finder)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Loser Inflows / Outflows:</a:t>
            </a:r>
            <a:r>
              <a:rPr b="0">
                <a:solidFill>
                  <a:srgbClr val="1E293B"/>
                </a:solidFill>
              </a:rPr>
              <a:t> Submits lost reports, photos, chat, OTP request; receives match alerts, masked chat, OTP token.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Finder Inflows / Outflows:</a:t>
            </a:r>
            <a:r>
              <a:rPr b="0">
                <a:solidFill>
                  <a:srgbClr val="1E293B"/>
                </a:solidFill>
              </a:rPr>
              <a:t> Submits found logs, images, tag confirmations, entered OTP; receives AI tags, match alerts, chat stream.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Lifecycle Termination:</a:t>
            </a:r>
            <a:r>
              <a:rPr b="0">
                <a:solidFill>
                  <a:srgbClr val="1E293B"/>
                </a:solidFill>
              </a:rPr>
              <a:t> Both parties receive mutual handover confirmation upon case closure.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Institutional Cloud Services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Google OAuth Service:</a:t>
            </a:r>
            <a:r>
              <a:rPr b="0">
                <a:solidFill>
                  <a:srgbClr val="1E293B"/>
                </a:solidFill>
              </a:rPr>
              <a:t> Exchanges OAuth tokens for validated campus email and user profile attributes.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Campus SMTP Service:</a:t>
            </a:r>
            <a:r>
              <a:rPr b="0">
                <a:solidFill>
                  <a:srgbClr val="1E293B"/>
                </a:solidFill>
              </a:rPr>
              <a:t> Dispatches automated transactional emails for match discoveries and OTP updates.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Campus Network Guard:</a:t>
            </a:r>
            <a:r>
              <a:rPr b="0">
                <a:solidFill>
                  <a:srgbClr val="1E293B"/>
                </a:solidFill>
              </a:rPr>
              <a:t> Restricts account creation strictly to authorized university domains.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Platform Administration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Administrative Controls:</a:t>
            </a:r>
            <a:r>
              <a:rPr b="0">
                <a:solidFill>
                  <a:srgbClr val="1E293B"/>
                </a:solidFill>
              </a:rPr>
              <a:t> Ingests moderation commands, category taxonomies, and audit report queries.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System Monitoring:</a:t>
            </a:r>
            <a:r>
              <a:rPr b="0">
                <a:solidFill>
                  <a:srgbClr val="1E293B"/>
                </a:solidFill>
              </a:rPr>
              <a:t> Emits immutable audit records, real-time analytics metrics, and abuse violation alerts.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Security Governance:</a:t>
            </a:r>
            <a:r>
              <a:rPr b="0">
                <a:solidFill>
                  <a:srgbClr val="1E293B"/>
                </a:solidFill>
              </a:rPr>
              <a:t> Provides full compliance oversight over disputed claims and suspended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DATA FLOW SPECIFICATION (LEVEL 1)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08 | DFD Level 1: System Subsystem Decomposition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Decomposition of FoundIT into seven functional processes and seven isolated data stores.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08_dfd_level_1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52" y="1399031"/>
            <a:ext cx="5063990" cy="3310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Intake &amp; Identity (Processes 1.0–3.0)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1.0 Authentication:</a:t>
            </a:r>
            <a:r>
              <a:rPr b="0">
                <a:solidFill>
                  <a:srgbClr val="1E293B"/>
                </a:solidFill>
              </a:rPr>
              <a:t> Verifies Google OAuth tokens and populates D1: Users store.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2.0 Lost Intake:</a:t>
            </a:r>
            <a:r>
              <a:rPr b="0">
                <a:solidFill>
                  <a:srgbClr val="1E293B"/>
                </a:solidFill>
              </a:rPr>
              <a:t> Validates misplaced item forms and stores records in D2: Lost Items.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3.0 Found Intake:</a:t>
            </a:r>
            <a:r>
              <a:rPr b="0">
                <a:solidFill>
                  <a:srgbClr val="1E293B"/>
                </a:solidFill>
              </a:rPr>
              <a:t> Processes found records, persists tags in D3: Found Items, and triggers AI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AI &amp; Coordination (Processes 4.0–6.0)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4.0 AI Matching Engine:</a:t>
            </a:r>
            <a:r>
              <a:rPr b="0">
                <a:solidFill>
                  <a:srgbClr val="1E293B"/>
                </a:solidFill>
              </a:rPr>
              <a:t> Cross-references D2 and D3 vectors; writes pairings to D4: Matches.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5.0 Masked Chat:</a:t>
            </a:r>
            <a:r>
              <a:rPr b="0">
                <a:solidFill>
                  <a:srgbClr val="1E293B"/>
                </a:solidFill>
              </a:rPr>
              <a:t> Powers anonymous bi-directional messaging stored in D5: Messages.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6.0 OTP Verification:</a:t>
            </a:r>
            <a:r>
              <a:rPr b="0">
                <a:solidFill>
                  <a:srgbClr val="1E293B"/>
                </a:solidFill>
              </a:rPr>
              <a:t> Manages challenge tokens and cryptographic hashes in D6: OTP Codes.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Governance &amp; Storage (Process 7.0)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7.0 Admin &amp; Audit:</a:t>
            </a:r>
            <a:r>
              <a:rPr b="0">
                <a:solidFill>
                  <a:srgbClr val="1E293B"/>
                </a:solidFill>
              </a:rPr>
              <a:t> Monitors platform health, executes moderation, and writes to D7: Audit Logs.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Data Store Isolation:</a:t>
            </a:r>
            <a:r>
              <a:rPr b="0">
                <a:solidFill>
                  <a:srgbClr val="1E293B"/>
                </a:solidFill>
              </a:rPr>
              <a:t> Strict boundary separation prevents cross-subsystem pollution and data corruption.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Traceability:</a:t>
            </a:r>
            <a:r>
              <a:rPr b="0">
                <a:solidFill>
                  <a:srgbClr val="1E293B"/>
                </a:solidFill>
              </a:rPr>
              <a:t> All report status transitions produce linked records in D4, D6, and D7.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DATA FLOW SPECIFICATION (LEVEL 2)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09 | DFD Level 2: AI Similarity &amp; OTP Handover Engines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Detailed internal decomposition of Process 4.0 (AI Matching) and Process 6.0 (OTP Handover).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66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9_dfd_level_2_matching_o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59" y="1417319"/>
            <a:ext cx="2583681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280160"/>
            <a:ext cx="5333695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33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50815" cy="4937760"/>
          </a:xfrm>
          <a:prstGeom prst="rect">
            <a:avLst/>
          </a:prstGeom>
          <a:noFill/>
        </p:spPr>
        <p:txBody>
          <a:bodyPr wrap="square" lIns="182880" tIns="164592" rIns="182880" bIns="16459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1. Subsystem 4.0: AI Similarity Engine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4.1 Feature Extractor:</a:t>
            </a:r>
            <a:r>
              <a:rPr b="0">
                <a:solidFill>
                  <a:srgbClr val="1E293B"/>
                </a:solidFill>
              </a:rPr>
              <a:t> Tokenizes title/description and normalizes photo pixels.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4.2 Vector Generator:</a:t>
            </a:r>
            <a:r>
              <a:rPr b="0">
                <a:solidFill>
                  <a:srgbClr val="1E293B"/>
                </a:solidFill>
              </a:rPr>
              <a:t> Computes 512-dim visual CLIP vectors and NLP sentence embeddings.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4.3 Cosine Computation:</a:t>
            </a:r>
            <a:r>
              <a:rPr b="0">
                <a:solidFill>
                  <a:srgbClr val="1E293B"/>
                </a:solidFill>
              </a:rPr>
              <a:t> Measures angular distance between active lost and found vectors.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4.4 Threshold Evaluator:</a:t>
            </a:r>
            <a:r>
              <a:rPr b="0">
                <a:solidFill>
                  <a:srgbClr val="1E293B"/>
                </a:solidFill>
              </a:rPr>
              <a:t> If score ≥ 0.75, writes pairing to D4: Matches and fires notifications.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2. Subsystem 6.0: OTP Verification Pipeline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6.1 Random Token Generator:</a:t>
            </a:r>
            <a:r>
              <a:rPr b="0">
                <a:solidFill>
                  <a:srgbClr val="1E293B"/>
                </a:solidFill>
              </a:rPr>
              <a:t> Generates 6-digit cryptographically secure alphanumeric challenge.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6.2 Token Hashing &amp; TTL:</a:t>
            </a:r>
            <a:r>
              <a:rPr b="0">
                <a:solidFill>
                  <a:srgbClr val="1E293B"/>
                </a:solidFill>
              </a:rPr>
              <a:t> Computes SHA-256 hash, attaches 15m expiration, stores in D6: OTP Codes.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6.3 OTP Matching &amp; Throttle:</a:t>
            </a:r>
            <a:r>
              <a:rPr b="0">
                <a:solidFill>
                  <a:srgbClr val="1E293B"/>
                </a:solidFill>
              </a:rPr>
              <a:t> Compares received token with hash; tracks failed attempt count.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6.4 State Closer &amp; Archiver:</a:t>
            </a:r>
            <a:r>
              <a:rPr b="0">
                <a:solidFill>
                  <a:srgbClr val="1E293B"/>
                </a:solidFill>
              </a:rPr>
              <a:t> Atomically locks item as 'Resolved' and commits audit record to D7.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DATA FLOW SPECIFICATION (LEVEL 3)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10 | DFD Level 3: Cryptographic OTP Verification Engine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Micro-level 4-stage security inspection pipeline governing item claim verification.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0_dfd_level_3_otp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607" y="1399031"/>
            <a:ext cx="3616479" cy="3310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Stages 1 &amp; 2: Input &amp; TTL Check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6.3.1 Format &amp; Length:</a:t>
            </a:r>
            <a:r>
              <a:rPr b="0">
                <a:solidFill>
                  <a:srgbClr val="1E293B"/>
                </a:solidFill>
              </a:rPr>
              <a:t> Enforces strict 6-character length and alphanumeric character mask.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6.3.2 Expiry Validation:</a:t>
            </a:r>
            <a:r>
              <a:rPr b="0">
                <a:solidFill>
                  <a:srgbClr val="1E293B"/>
                </a:solidFill>
              </a:rPr>
              <a:t> Queries D6; verifies timestamp within 15-minute TTL window.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Timeout Handling:</a:t>
            </a:r>
            <a:r>
              <a:rPr b="0">
                <a:solidFill>
                  <a:srgbClr val="1E293B"/>
                </a:solidFill>
              </a:rPr>
              <a:t> If elapsed time &gt; 15m, rejects with Error: Token Expired (prompts regeneration).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Stage 3: Cryptographic Hashing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6.3.3 SHA-256 Computation:</a:t>
            </a:r>
            <a:r>
              <a:rPr b="0">
                <a:solidFill>
                  <a:srgbClr val="1E293B"/>
                </a:solidFill>
              </a:rPr>
              <a:t> Hashes incoming token and compares with stored cryptographic digest.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Timing Attack Resistance:</a:t>
            </a:r>
            <a:r>
              <a:rPr b="0">
                <a:solidFill>
                  <a:srgbClr val="1E293B"/>
                </a:solidFill>
              </a:rPr>
              <a:t> Uses constant-time string comparison to prevent side-channel exploits.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Branching Logic:</a:t>
            </a:r>
            <a:r>
              <a:rPr b="0">
                <a:solidFill>
                  <a:srgbClr val="1E293B"/>
                </a:solidFill>
              </a:rPr>
              <a:t> Routes seamlessly into Mismatch Handler vs. Verification Confirmation.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Stage 4: Throttle &amp; Confirmation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6.3.4 Security Throttle:</a:t>
            </a:r>
            <a:r>
              <a:rPr b="0">
                <a:solidFill>
                  <a:srgbClr val="1E293B"/>
                </a:solidFill>
              </a:rPr>
              <a:t> Mismatch increments failure counter. Retries permitted up to 3 attempts.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Lockout Defense:</a:t>
            </a:r>
            <a:r>
              <a:rPr b="0">
                <a:solidFill>
                  <a:srgbClr val="1E293B"/>
                </a:solidFill>
              </a:rPr>
              <a:t> At ≥ 3 failed attempts, locks verification and generates administrator security alert.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6.3.5 Verification Success:</a:t>
            </a:r>
            <a:r>
              <a:rPr b="0">
                <a:solidFill>
                  <a:srgbClr val="1E293B"/>
                </a:solidFill>
              </a:rPr>
              <a:t> Emits handover confirmation token and triggers 6.4 Item Archiver.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UML STRUCTURAL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11 | Component: Layered Service Contracts &amp; Ports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Structural decomposition illustrating decoupled UI modules, backend controllers, and AI pipelines.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1_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00" y="1399031"/>
            <a:ext cx="5339493" cy="3310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Presentation Client Layer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Auth &amp; Login UI:</a:t>
            </a:r>
            <a:r>
              <a:rPr b="0">
                <a:solidFill>
                  <a:srgbClr val="1E293B"/>
                </a:solidFill>
              </a:rPr>
              <a:t> Manages Google OAuth 2.0 redirects, token capture, and session hydration.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Item Intake &amp; Dashboard:</a:t>
            </a:r>
            <a:r>
              <a:rPr b="0">
                <a:solidFill>
                  <a:srgbClr val="1E293B"/>
                </a:solidFill>
              </a:rPr>
              <a:t> Interactive forms with client Canvas image preprocessing and match feeds.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Masked Chat &amp; Admin Console:</a:t>
            </a:r>
            <a:r>
              <a:rPr b="0">
                <a:solidFill>
                  <a:srgbClr val="1E293B"/>
                </a:solidFill>
              </a:rPr>
              <a:t> Real-time WebSocket widget and administrative moderation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Application &amp; Logic Services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API Gateway &amp; Router:</a:t>
            </a:r>
            <a:r>
              <a:rPr b="0">
                <a:solidFill>
                  <a:srgbClr val="1E293B"/>
                </a:solidFill>
              </a:rPr>
              <a:t> Dispatches incoming REST endpoints (/api/reports, /api/handover) and WSS routes.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Core Services:</a:t>
            </a:r>
            <a:r>
              <a:rPr b="0">
                <a:solidFill>
                  <a:srgbClr val="1E293B"/>
                </a:solidFill>
              </a:rPr>
              <a:t> Item Management, Chat WebSocket Service, OTP Verifier, and Admin Auditing.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Decoupled Contracts:</a:t>
            </a:r>
            <a:r>
              <a:rPr b="0">
                <a:solidFill>
                  <a:srgbClr val="1E293B"/>
                </a:solidFill>
              </a:rPr>
              <a:t> Clean interfaces isolate business logic from database schema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AI Engine &amp; Data Access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AI Inference Components:</a:t>
            </a:r>
            <a:r>
              <a:rPr b="0">
                <a:solidFill>
                  <a:srgbClr val="1E293B"/>
                </a:solidFill>
              </a:rPr>
              <a:t> YOLO Object Detector (extractTags), CLIP Embedder (encodeImage), Cosine Matcher.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Data Access Layer:</a:t>
            </a:r>
            <a:r>
              <a:rPr b="0">
                <a:solidFill>
                  <a:srgbClr val="1E293B"/>
                </a:solidFill>
              </a:rPr>
              <a:t> MongoDB ODM/DAO managing typed Mongoose schemas and queries.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Media Storage Client:</a:t>
            </a:r>
            <a:r>
              <a:rPr b="0">
                <a:solidFill>
                  <a:srgbClr val="1E293B"/>
                </a:solidFill>
              </a:rPr>
              <a:t> Secure signed storage handler for high-resolution item photo blobs.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UML STRUCTURAL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12 | Deployment: Physical Topology &amp; Network Protocols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Hardware execution environment, container orchestration, network ports, and security protocols.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61872"/>
            <a:ext cx="10728655" cy="3584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2_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157" y="1399031"/>
            <a:ext cx="5073381" cy="33101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4992624"/>
            <a:ext cx="3429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Client Tier &amp; Web Gateway (Port 443)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Client Devices:</a:t>
            </a:r>
            <a:r>
              <a:rPr b="0">
                <a:solidFill>
                  <a:srgbClr val="1E293B"/>
                </a:solidFill>
              </a:rPr>
              <a:t> Modern student/admin web browsers running responsive React SPA; JWT auth storage.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Nginx Reverse Proxy:</a:t>
            </a:r>
            <a:r>
              <a:rPr b="0">
                <a:solidFill>
                  <a:srgbClr val="1E293B"/>
                </a:solidFill>
              </a:rPr>
              <a:t> Edge reverse proxy and load balancer terminating TLS 1.3 (Port 443 HTTPS/WSS).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Internal Proxying:</a:t>
            </a:r>
            <a:r>
              <a:rPr b="0">
                <a:solidFill>
                  <a:srgbClr val="1E293B"/>
                </a:solidFill>
              </a:rPr>
              <a:t> Upstream forward to application container on internal Port 8000.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4992624"/>
            <a:ext cx="34290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Application Core &amp; AI GPU Cluster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Application Server:</a:t>
            </a:r>
            <a:r>
              <a:rPr b="0">
                <a:solidFill>
                  <a:srgbClr val="1E293B"/>
                </a:solidFill>
              </a:rPr>
              <a:t> Docker container running FastAPI / Node.js 24 with Uvicorn ASGI event loop.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Real-Time Engine:</a:t>
            </a:r>
            <a:r>
              <a:rPr b="0">
                <a:solidFill>
                  <a:srgbClr val="1E293B"/>
                </a:solidFill>
              </a:rPr>
              <a:t> WebSocket worker handling concurrency for live anonymous messaging.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AI Acceleration Node:</a:t>
            </a:r>
            <a:r>
              <a:rPr b="0">
                <a:solidFill>
                  <a:srgbClr val="1E293B"/>
                </a:solidFill>
              </a:rPr>
              <a:t> Dedicated NVIDIA GPU running PyTorch/CUDA 12 for YOLOv8 &amp; CLIP (Port 50051).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992624"/>
            <a:ext cx="342900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28432" y="4992624"/>
            <a:ext cx="34290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065776"/>
            <a:ext cx="3209544" cy="13990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Persistence Tier &amp; External Cloud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MongoDB Database Server:</a:t>
            </a:r>
            <a:r>
              <a:rPr b="0">
                <a:solidFill>
                  <a:srgbClr val="1E293B"/>
                </a:solidFill>
              </a:rPr>
              <a:t> Enterprise MongoDB 7.0 replica cluster running on Port 27017 with encrypted EBS.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Google Cloud Platform:</a:t>
            </a:r>
            <a:r>
              <a:rPr b="0">
                <a:solidFill>
                  <a:srgbClr val="1E293B"/>
                </a:solidFill>
              </a:rPr>
              <a:t> OAuth 2.0 API gateway for zero-trust institutional identity validation.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Campus Mail Gateway:</a:t>
            </a:r>
            <a:r>
              <a:rPr b="0">
                <a:solidFill>
                  <a:srgbClr val="1E293B"/>
                </a:solidFill>
              </a:rPr>
              <a:t> SMTP server with TLS on Port 587 for OTP codes and match notifications.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t>DATABASE SCHEMA SPECIFICATION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Diagram 13 | ER Diagram: Relational Data Schema &amp; Integrity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Complete entity-relationship blueprint showing 8 collections, keys, and cardinalities.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66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3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45" y="1417319"/>
            <a:ext cx="2790309" cy="4892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280160"/>
            <a:ext cx="5333695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33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150815" cy="4937760"/>
          </a:xfrm>
          <a:prstGeom prst="rect">
            <a:avLst/>
          </a:prstGeom>
          <a:noFill/>
        </p:spPr>
        <p:txBody>
          <a:bodyPr wrap="square" lIns="182880" tIns="164592" rIns="182880" bIns="16459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Core User &amp; Item Entities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USER:</a:t>
            </a:r>
            <a:r>
              <a:rPr b="0">
                <a:solidFill>
                  <a:srgbClr val="1E293B"/>
                </a:solidFill>
              </a:rPr>
              <a:t> userId (PK), name, campusEmail, role, department, createdAt.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LOST_ITEM:</a:t>
            </a:r>
            <a:r>
              <a:rPr b="0">
                <a:solidFill>
                  <a:srgbClr val="1E293B"/>
                </a:solidFill>
              </a:rPr>
              <a:t> lostId (PK), userId (FK), title, category, description, location, dateLost, status.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FOUND_ITEM:</a:t>
            </a:r>
            <a:r>
              <a:rPr b="0">
                <a:solidFill>
                  <a:srgbClr val="1E293B"/>
                </a:solidFill>
              </a:rPr>
              <a:t> foundId (PK), userId (FK), description, location, dateFound, photoUrl, aiTags, status.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7C3AED"/>
                </a:solidFill>
                <a:latin typeface="Segoe UI"/>
              </a:defRPr>
            </a:pPr>
            <a:r>
              <a:t>2. Relational Cardinalities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USER → LOST_ITEM / FOUND_ITEM:</a:t>
            </a:r>
            <a:r>
              <a:rPr b="0">
                <a:solidFill>
                  <a:srgbClr val="1E293B"/>
                </a:solidFill>
              </a:rPr>
              <a:t> 1 : N (One user reports multiple lost or found items).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LOST_ITEM &amp; FOUND_ITEM → SIMILARITY_MATCH:</a:t>
            </a:r>
            <a:r>
              <a:rPr b="0">
                <a:solidFill>
                  <a:srgbClr val="1E293B"/>
                </a:solidFill>
              </a:rPr>
              <a:t> 1 : N (Items evaluated across match candidates).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SIMILARITY_MATCH → CHAT_SESSION:</a:t>
            </a:r>
            <a:r>
              <a:rPr b="0">
                <a:solidFill>
                  <a:srgbClr val="1E293B"/>
                </a:solidFill>
              </a:rPr>
              <a:t> 1 : 1 (One private chat room per discovered pairing).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CHAT_SESSION → CHAT_MESSAGE:</a:t>
            </a:r>
            <a:r>
              <a:rPr b="0">
                <a:solidFill>
                  <a:srgbClr val="1E293B"/>
                </a:solidFill>
              </a:rPr>
              <a:t> 1 : N (One chat room contains multiple ordered messages).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SIMILARITY_MATCH → OTP_VERIFICATION:</a:t>
            </a:r>
            <a:r>
              <a:rPr b="0">
                <a:solidFill>
                  <a:srgbClr val="1E293B"/>
                </a:solidFill>
              </a:rPr>
              <a:t> 1 : 1 (One cryptographic challenge per matched claim).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3. Security &amp; Audit Entities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OTP_VERIFICATION:</a:t>
            </a:r>
            <a:r>
              <a:rPr b="0">
                <a:solidFill>
                  <a:srgbClr val="1E293B"/>
                </a:solidFill>
              </a:rPr>
              <a:t> Stores otpHash and expiryTimestamp; never stores raw cleartext codes.</a:t>
            </a:r>
          </a:p>
          <a:p>
            <a:pPr>
              <a:spcAft>
                <a:spcPts val="200"/>
              </a:spcAft>
              <a:defRPr sz="105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AUDIT_LOG:</a:t>
            </a:r>
            <a:r>
              <a:rPr b="0">
                <a:solidFill>
                  <a:srgbClr val="1E293B"/>
                </a:solidFill>
              </a:rPr>
              <a:t> Immutable record capturing logId, userId (FK), actionType, timestamp, details.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728655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TECHNICAL SYNTHESIS &amp; REVIEW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Segoe UI"/>
              </a:defRPr>
            </a:pPr>
            <a:r>
              <a:t>FoundIT: Production Stack &amp; Engineering Guarantees</a:t>
            </a:r>
          </a:p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t>Synthesis of full-stack implementations, architectural decisions, and enterprise security guarantees.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57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39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FULL-STACK ARCHITECTURE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Next.js 16 + React 19 + TypeScript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Unified App Router:</a:t>
            </a:r>
            <a:r>
              <a:rPr b="0">
                <a:solidFill>
                  <a:srgbClr val="1E293B"/>
                </a:solidFill>
              </a:rPr>
              <a:t> Next.js 16 (Turbopack) consolidates React 19 SSR and serverless Node.js 24 API routes.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Strict Type Safety:</a:t>
            </a:r>
            <a:r>
              <a:rPr b="0">
                <a:solidFill>
                  <a:srgbClr val="1E293B"/>
                </a:solidFill>
              </a:rPr>
              <a:t> TypeScript 5 eliminates runtime anomalies across database payloads and OAuth sessions.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Tailwind CSS v4:</a:t>
            </a:r>
            <a:r>
              <a:rPr b="0">
                <a:solidFill>
                  <a:srgbClr val="1E293B"/>
                </a:solidFill>
              </a:rPr>
              <a:t> Utility-first responsive styling with clean light-theme contrast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5257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63039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Segoe UI"/>
              </a:defRPr>
            </a:pPr>
            <a:r>
              <a:t>INTELLIGENCE PIPELINE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Multi-Modal AI Recommendation Engine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HTML5 Canvas Feature Extractor:</a:t>
            </a:r>
            <a:r>
              <a:rPr b="0">
                <a:solidFill>
                  <a:srgbClr val="1E293B"/>
                </a:solidFill>
              </a:rPr>
              <a:t> Client-side spatial luminance grid &amp; color histogram generation.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YOLOv8 + CLIP Embedder:</a:t>
            </a:r>
            <a:r>
              <a:rPr b="0">
                <a:solidFill>
                  <a:srgbClr val="1E293B"/>
                </a:solidFill>
              </a:rPr>
              <a:t> Multimodal computer vision identifying objects and mapping high-dimensional vectors.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Cosine Similarity Thresholding:</a:t>
            </a:r>
            <a:r>
              <a:rPr b="0">
                <a:solidFill>
                  <a:srgbClr val="1E293B"/>
                </a:solidFill>
              </a:rPr>
              <a:t> Real-time vector scoring (≥ 75%) immediately linking lost and found catalog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67911"/>
            <a:ext cx="5257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867911"/>
            <a:ext cx="52578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05072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Segoe UI"/>
              </a:defRPr>
            </a:pPr>
            <a:r>
              <a:t>SECURITY &amp; PRIVACY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Zero-Knowledge Cryptographic Handover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Masked Chat Identity:</a:t>
            </a:r>
            <a:r>
              <a:rPr b="0">
                <a:solidFill>
                  <a:srgbClr val="1E293B"/>
                </a:solidFill>
              </a:rPr>
              <a:t> Anonymized WebSocket UUIDs shield personal phone and contact details.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SHA-256 OTP Verification:</a:t>
            </a:r>
            <a:r>
              <a:rPr b="0">
                <a:solidFill>
                  <a:srgbClr val="1E293B"/>
                </a:solidFill>
              </a:rPr>
              <a:t> One-time tokens stored only as cryptographic hashes with 15-minute TTL.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Brute-Force Throttle:</a:t>
            </a:r>
            <a:r>
              <a:rPr b="0">
                <a:solidFill>
                  <a:srgbClr val="1E293B"/>
                </a:solidFill>
              </a:rPr>
              <a:t> 3-attempt maximum lockout policy automatically triggers platform administrator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67911"/>
            <a:ext cx="52578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867911"/>
            <a:ext cx="5257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05072"/>
            <a:ext cx="4892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Segoe UI"/>
              </a:defRPr>
            </a:pPr>
            <a:r>
              <a:t>PERSISTENCE &amp; AUDIT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MongoDB Enterprise Data Architecture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8 Segregated Schemas:</a:t>
            </a:r>
            <a:r>
              <a:rPr b="0">
                <a:solidFill>
                  <a:srgbClr val="1E293B"/>
                </a:solidFill>
              </a:rPr>
              <a:t> High-performance document modeling for users, items, matches, chats, and OTPs.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Atomic State Locking:</a:t>
            </a:r>
            <a:r>
              <a:rPr b="0">
                <a:solidFill>
                  <a:srgbClr val="1E293B"/>
                </a:solidFill>
              </a:rPr>
              <a:t> Handover completion automatically converts reports to immutable read-only records.</a:t>
            </a:r>
          </a:p>
          <a:p>
            <a:pPr>
              <a:spcAft>
                <a:spcPts val="300"/>
              </a:spcAft>
              <a:defRPr sz="10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•  Comprehensive Audit Trail:</a:t>
            </a:r>
            <a:r>
              <a:rPr b="0">
                <a:solidFill>
                  <a:srgbClr val="1E293B"/>
                </a:solidFill>
              </a:rPr>
              <a:t> Dedicated D7 store recording every administrative action and resolved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3303</Words>
  <Application>Microsoft Office PowerPoint</Application>
  <PresentationFormat>Widescreen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VISHNURAAM KUMARESAN</cp:lastModifiedBy>
  <cp:revision>2</cp:revision>
  <dcterms:created xsi:type="dcterms:W3CDTF">2013-01-27T09:14:16Z</dcterms:created>
  <dcterms:modified xsi:type="dcterms:W3CDTF">2026-10-01T10:15:38Z</dcterms:modified>
  <cp:category/>
</cp:coreProperties>
</file>